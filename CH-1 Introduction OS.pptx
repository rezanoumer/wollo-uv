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65" r:id="rId4"/>
    <p:sldId id="323" r:id="rId5"/>
    <p:sldId id="324" r:id="rId6"/>
    <p:sldId id="326" r:id="rId7"/>
    <p:sldId id="328" r:id="rId8"/>
    <p:sldId id="329" r:id="rId9"/>
    <p:sldId id="330" r:id="rId10"/>
    <p:sldId id="397" r:id="rId11"/>
    <p:sldId id="396" r:id="rId12"/>
    <p:sldId id="395" r:id="rId13"/>
    <p:sldId id="334" r:id="rId14"/>
    <p:sldId id="335" r:id="rId15"/>
    <p:sldId id="336" r:id="rId16"/>
    <p:sldId id="337" r:id="rId17"/>
    <p:sldId id="338" r:id="rId18"/>
    <p:sldId id="339" r:id="rId19"/>
    <p:sldId id="398" r:id="rId20"/>
    <p:sldId id="341" r:id="rId21"/>
    <p:sldId id="342" r:id="rId22"/>
    <p:sldId id="284" r:id="rId23"/>
    <p:sldId id="399" r:id="rId24"/>
    <p:sldId id="343" r:id="rId25"/>
    <p:sldId id="344" r:id="rId26"/>
    <p:sldId id="345" r:id="rId27"/>
    <p:sldId id="347" r:id="rId28"/>
    <p:sldId id="348" r:id="rId29"/>
    <p:sldId id="349" r:id="rId30"/>
    <p:sldId id="350" r:id="rId31"/>
    <p:sldId id="381" r:id="rId32"/>
    <p:sldId id="382" r:id="rId33"/>
    <p:sldId id="383" r:id="rId34"/>
    <p:sldId id="384" r:id="rId35"/>
    <p:sldId id="402" r:id="rId36"/>
    <p:sldId id="353" r:id="rId37"/>
    <p:sldId id="386" r:id="rId38"/>
    <p:sldId id="355" r:id="rId39"/>
    <p:sldId id="387" r:id="rId40"/>
    <p:sldId id="356" r:id="rId41"/>
    <p:sldId id="357" r:id="rId42"/>
    <p:sldId id="358" r:id="rId43"/>
    <p:sldId id="388" r:id="rId44"/>
    <p:sldId id="359" r:id="rId45"/>
    <p:sldId id="360" r:id="rId46"/>
    <p:sldId id="389" r:id="rId47"/>
    <p:sldId id="361" r:id="rId48"/>
    <p:sldId id="390" r:id="rId49"/>
    <p:sldId id="391" r:id="rId50"/>
    <p:sldId id="392" r:id="rId51"/>
    <p:sldId id="393" r:id="rId52"/>
    <p:sldId id="394" r:id="rId53"/>
    <p:sldId id="365" r:id="rId54"/>
    <p:sldId id="366" r:id="rId55"/>
    <p:sldId id="367" r:id="rId56"/>
    <p:sldId id="368" r:id="rId57"/>
    <p:sldId id="369" r:id="rId58"/>
    <p:sldId id="370" r:id="rId59"/>
    <p:sldId id="371" r:id="rId60"/>
    <p:sldId id="372" r:id="rId61"/>
    <p:sldId id="373" r:id="rId62"/>
    <p:sldId id="374" r:id="rId63"/>
    <p:sldId id="376" r:id="rId64"/>
    <p:sldId id="400" r:id="rId65"/>
    <p:sldId id="377" r:id="rId66"/>
    <p:sldId id="401" r:id="rId67"/>
    <p:sldId id="378" r:id="rId68"/>
    <p:sldId id="379" r:id="rId69"/>
    <p:sldId id="322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F1FC"/>
    <a:srgbClr val="01A8EC"/>
    <a:srgbClr val="01AE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734D5-BEDF-4F2C-A5D6-4F642FAC0AB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7B008-CF5D-425C-8C98-106E90BC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07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2584763-D0E0-41CD-AD68-BEBD980B81B0}" type="slidenum">
              <a:rPr lang="he-IL" altLang="en-US" smtClean="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69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en-US" smtClean="0"/>
          </a:p>
        </p:txBody>
      </p:sp>
    </p:spTree>
    <p:extLst>
      <p:ext uri="{BB962C8B-B14F-4D97-AF65-F5344CB8AC3E}">
        <p14:creationId xmlns:p14="http://schemas.microsoft.com/office/powerpoint/2010/main" val="3660322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1E67-BA61-47E3-94ED-823397C81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31C0B-6442-4301-8F01-B4429B801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7593B-3022-46D5-AF58-13E488E30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4B5DB-1055-4727-AC6F-6D915B0F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AAFFB-33D2-4BCB-9CC0-8EAE52B6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FF4B-3E39-42E6-988C-BAF41D24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07E13-1019-4306-B6A9-582D6DF2A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195CB-4625-4E95-A2B0-03CED2D3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62105-8346-41AC-9EB5-24F83C484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5473D-427A-4F6D-9AE5-096AE4E28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817B-FBDC-45C5-B585-6A3C48134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21DF8-8DCF-4A50-B447-7C73FB5CC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1A9A3-877B-4189-914A-64363DBD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850A8-146C-4E9B-9226-2773BF94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4AE71-1852-4995-A3E0-742977C3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0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5DC7-79AA-426D-86C3-716D34FC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49DED-5974-498E-BCEB-A6E074CC5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4B50E-B184-49EF-BBD5-C18237761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06F0F-EBA4-41B7-B014-CEC45A9C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0735A-6C3C-459B-A0C2-96EF447D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86516-490E-4CF3-97E0-0BB2F4AB7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1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4089-8269-4CB9-9EDC-55EA53F3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B81E2-E540-42C8-BA52-343519F60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9D6AF-5C2B-48D2-AF27-3463EAB6E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EED9F8-BA5A-4045-AF0E-EA1F74D12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9E3EA-5814-40FF-B6AD-0B05F8C65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958BD-9009-4EB5-9E59-A06F3B33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D6737-D0C0-42EC-97F0-40486880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37339-A87F-49CC-99F2-4149AB1A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8902-FFD1-440B-A24D-A5AC1D41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414C91-81F8-4463-972C-42B857B0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72F8B-4ABB-422C-A6D2-15B73064E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BF2B5-CD6C-4CA4-BEFB-BF9846446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05896-DDDB-492F-965C-014998D42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BA6C11-8AB2-49E8-A380-BF605FBE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65679-7AB8-452D-9335-28B47FBB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1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E1939-985F-4EB5-AF51-5482F421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A82D2-F882-42C4-A66A-23C406606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10EA8-03C2-4143-BADB-EE7CE47F8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A47CD-0D4C-4F21-8DF3-C96AB9C2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25175-225C-4F84-9E30-915C1D09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8D029-39EC-45A7-AFE8-3FFCA4CC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E3E80-6196-45E2-9C4D-ABA4B9C93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347B1-E44B-4283-82B1-D7A4AEAB8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80789-F9E4-4876-B1A4-D49D85097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EFEF7-7281-4D9B-964D-962E0463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F39C4-19F1-447B-A16C-F4363F824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A250C-A7C7-4D6E-ADEB-BFC6D79D7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1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FF3-94BA-402D-B859-FF6EA32EF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125BD-A85E-489E-BCB3-C908D9291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48AA3-B77B-4F19-AD1A-F7F9D0215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7F65F-A391-464F-B7F9-47CEEBE85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AD764-1223-4D71-99FF-AA02CAA1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79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C20C84-A26D-49AF-96F7-A7D0574E7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09732-89AD-4B22-9F78-1909D20B6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72C7A-EC31-404C-803A-F329AAAA1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35466-D8D0-4D78-B517-3D7AB23D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A6B5A-52BD-4075-8743-16C63554D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3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17E2DD-CF3D-42A3-A098-39CBA93F0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BC6AA-2491-41D0-8CEC-EAEB0B37D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6852C-806B-4737-A089-4E8F2F128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6F901-69F0-4DAF-94E8-1573A571C4D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D7A6F-3A60-4597-B305-BD4618D97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FB239-C064-410B-B698-46FC8C7F1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1A5E7-DDEA-4157-82C1-790259E07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6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hyperlink" Target="https://www.macstories.net/stories/ios-9-our-complete-overview/" TargetMode="Externa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0"/>
              </a:schemeClr>
            </a:gs>
            <a:gs pos="100000">
              <a:schemeClr val="accent2">
                <a:lumMod val="5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74BD16-129A-4C42-8D9F-BEAB42332A1F}"/>
              </a:ext>
            </a:extLst>
          </p:cNvPr>
          <p:cNvSpPr/>
          <p:nvPr/>
        </p:nvSpPr>
        <p:spPr>
          <a:xfrm>
            <a:off x="6837528" y="0"/>
            <a:ext cx="5354471" cy="6858000"/>
          </a:xfrm>
          <a:prstGeom prst="rect">
            <a:avLst/>
          </a:prstGeom>
          <a:gradFill flip="none" rotWithShape="1">
            <a:gsLst>
              <a:gs pos="6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C6F16-4A00-4035-BB38-CA1C3019B812}"/>
              </a:ext>
            </a:extLst>
          </p:cNvPr>
          <p:cNvGrpSpPr/>
          <p:nvPr/>
        </p:nvGrpSpPr>
        <p:grpSpPr>
          <a:xfrm>
            <a:off x="6965004" y="2001078"/>
            <a:ext cx="5004081" cy="3061252"/>
            <a:chOff x="7283356" y="1141879"/>
            <a:chExt cx="4299044" cy="218353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B25B7E-09D2-4651-94B6-63F4FED250E8}"/>
                </a:ext>
              </a:extLst>
            </p:cNvPr>
            <p:cNvSpPr/>
            <p:nvPr/>
          </p:nvSpPr>
          <p:spPr>
            <a:xfrm>
              <a:off x="7345461" y="1141879"/>
              <a:ext cx="4236939" cy="218353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he-IL" sz="4400" dirty="0">
                  <a:latin typeface="Times New Roman" panose="02020603050405020304" pitchFamily="18" charset="0"/>
                </a:rPr>
                <a:t>Chapter </a:t>
              </a:r>
              <a:r>
                <a:rPr lang="en-US" altLang="he-IL" sz="4400" dirty="0" smtClean="0">
                  <a:latin typeface="Times New Roman" panose="02020603050405020304" pitchFamily="18" charset="0"/>
                </a:rPr>
                <a:t>One:</a:t>
              </a:r>
              <a:r>
                <a:rPr lang="am-ET" altLang="he-IL" sz="4400" dirty="0">
                  <a:latin typeface="Times New Roman" panose="02020603050405020304" pitchFamily="18" charset="0"/>
                </a:rPr>
                <a:t/>
              </a:r>
              <a:br>
                <a:rPr lang="am-ET" altLang="he-IL" sz="4400" dirty="0">
                  <a:latin typeface="Times New Roman" panose="02020603050405020304" pitchFamily="18" charset="0"/>
                </a:rPr>
              </a:br>
              <a:r>
                <a:rPr lang="en-US" altLang="he-IL" sz="4400" dirty="0">
                  <a:latin typeface="Times New Roman" panose="02020603050405020304" pitchFamily="18" charset="0"/>
                </a:rPr>
                <a:t>Introduction to Operating System (OS)</a:t>
              </a:r>
              <a:endParaRPr lang="en-US" sz="4400" b="1" dirty="0">
                <a:latin typeface="Georgia" panose="02040502050405020303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4A7B78-8E59-48DF-B572-EE0B4D24FBBC}"/>
                </a:ext>
              </a:extLst>
            </p:cNvPr>
            <p:cNvSpPr txBox="1"/>
            <p:nvPr/>
          </p:nvSpPr>
          <p:spPr>
            <a:xfrm>
              <a:off x="7283356" y="2983156"/>
              <a:ext cx="42990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i="1" dirty="0">
                <a:solidFill>
                  <a:schemeClr val="bg1"/>
                </a:solidFill>
                <a:latin typeface="Georgia Pro Light" panose="02040302050405020303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7608871-D5DD-293F-3301-1820FAB44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353" y="154368"/>
            <a:ext cx="2744652" cy="27096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E4B1A7-AE84-6DAE-317A-E5500A83E94D}"/>
              </a:ext>
            </a:extLst>
          </p:cNvPr>
          <p:cNvSpPr txBox="1"/>
          <p:nvPr/>
        </p:nvSpPr>
        <p:spPr>
          <a:xfrm>
            <a:off x="543733" y="2983140"/>
            <a:ext cx="60708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 Pro Cond" panose="02040506050405020303" pitchFamily="18" charset="0"/>
              </a:rPr>
              <a:t>Wollo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 Pro Cond" panose="02040506050405020303" pitchFamily="18" charset="0"/>
              </a:rPr>
              <a:t> University, </a:t>
            </a:r>
            <a:r>
              <a:rPr lang="en-US" sz="4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 Pro Cond" panose="02040506050405020303" pitchFamily="18" charset="0"/>
              </a:rPr>
              <a:t>KIoT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 Pro Cond" panose="020405060504050203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 Pro Cond" panose="02040506050405020303" pitchFamily="18" charset="0"/>
              </a:rPr>
              <a:t>Dept of IS</a:t>
            </a:r>
          </a:p>
        </p:txBody>
      </p:sp>
    </p:spTree>
    <p:extLst>
      <p:ext uri="{BB962C8B-B14F-4D97-AF65-F5344CB8AC3E}">
        <p14:creationId xmlns:p14="http://schemas.microsoft.com/office/powerpoint/2010/main" val="275313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1E2511-43E2-4D35-A3D9-D8B95F82C666}"/>
              </a:ext>
            </a:extLst>
          </p:cNvPr>
          <p:cNvSpPr/>
          <p:nvPr/>
        </p:nvSpPr>
        <p:spPr>
          <a:xfrm>
            <a:off x="0" y="0"/>
            <a:ext cx="4367284" cy="6858000"/>
          </a:xfrm>
          <a:prstGeom prst="rect">
            <a:avLst/>
          </a:prstGeom>
          <a:gradFill flip="none" rotWithShape="1">
            <a:gsLst>
              <a:gs pos="59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6A2CD-3F5D-4DA5-8EB1-A67B2DAAE33F}"/>
              </a:ext>
            </a:extLst>
          </p:cNvPr>
          <p:cNvSpPr/>
          <p:nvPr/>
        </p:nvSpPr>
        <p:spPr>
          <a:xfrm>
            <a:off x="233297" y="1512528"/>
            <a:ext cx="3862317" cy="70968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Georgia" panose="02040502050405020303" pitchFamily="18" charset="0"/>
              </a:rPr>
              <a:t>Contents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C59A9D7-8814-43DA-B169-C2A877C9227F}"/>
              </a:ext>
            </a:extLst>
          </p:cNvPr>
          <p:cNvGrpSpPr/>
          <p:nvPr/>
        </p:nvGrpSpPr>
        <p:grpSpPr>
          <a:xfrm>
            <a:off x="4651515" y="384313"/>
            <a:ext cx="7222433" cy="5876249"/>
            <a:chOff x="6264322" y="796526"/>
            <a:chExt cx="5327790" cy="569681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7F75A65-F23E-4A63-ABCF-D9A1E068AB3D}"/>
                </a:ext>
              </a:extLst>
            </p:cNvPr>
            <p:cNvGrpSpPr/>
            <p:nvPr/>
          </p:nvGrpSpPr>
          <p:grpSpPr>
            <a:xfrm>
              <a:off x="6264322" y="796526"/>
              <a:ext cx="5308239" cy="1002998"/>
              <a:chOff x="6564573" y="1042185"/>
              <a:chExt cx="5308239" cy="1002998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F0B7198-E0A0-4FD3-AC17-9CC74B909B90}"/>
                  </a:ext>
                </a:extLst>
              </p:cNvPr>
              <p:cNvSpPr/>
              <p:nvPr/>
            </p:nvSpPr>
            <p:spPr>
              <a:xfrm>
                <a:off x="6564573" y="1042185"/>
                <a:ext cx="802945" cy="80294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Georgia Pro Cond" panose="02040506050405020303" pitchFamily="18" charset="0"/>
                  </a:rPr>
                  <a:t>01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BB4A6-BC7C-42D4-817A-5A3AEC173ED9}"/>
                  </a:ext>
                </a:extLst>
              </p:cNvPr>
              <p:cNvSpPr txBox="1"/>
              <p:nvPr/>
            </p:nvSpPr>
            <p:spPr>
              <a:xfrm>
                <a:off x="7489659" y="1120209"/>
                <a:ext cx="4383153" cy="924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Overview Operating System(OS)</a:t>
                </a:r>
                <a:endPara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31F3BFB-3C69-44E4-A96F-D128BC0C4250}"/>
                </a:ext>
              </a:extLst>
            </p:cNvPr>
            <p:cNvGrpSpPr/>
            <p:nvPr/>
          </p:nvGrpSpPr>
          <p:grpSpPr>
            <a:xfrm>
              <a:off x="6264322" y="1971817"/>
              <a:ext cx="5239808" cy="1135197"/>
              <a:chOff x="6564573" y="1042185"/>
              <a:chExt cx="5239808" cy="113519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A500047-D5FC-4759-BA65-86B01391FD12}"/>
                  </a:ext>
                </a:extLst>
              </p:cNvPr>
              <p:cNvSpPr/>
              <p:nvPr/>
            </p:nvSpPr>
            <p:spPr>
              <a:xfrm>
                <a:off x="6564573" y="1042185"/>
                <a:ext cx="802945" cy="80294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Georgia Pro Cond" panose="02040506050405020303" pitchFamily="18" charset="0"/>
                  </a:rPr>
                  <a:t>02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BB29CF-29B4-4B87-AFE3-2787BD35B2D6}"/>
                  </a:ext>
                </a:extLst>
              </p:cNvPr>
              <p:cNvSpPr txBox="1"/>
              <p:nvPr/>
            </p:nvSpPr>
            <p:spPr>
              <a:xfrm>
                <a:off x="7512406" y="1133057"/>
                <a:ext cx="4291975" cy="1044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functions of </a:t>
                </a:r>
                <a:r>
                  <a:rPr lang="en-US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</a:t>
                </a:r>
                <a:endPara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200" dirty="0"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B1B4DD9-C009-42C2-9DCB-0B4083087D40}"/>
                </a:ext>
              </a:extLst>
            </p:cNvPr>
            <p:cNvGrpSpPr/>
            <p:nvPr/>
          </p:nvGrpSpPr>
          <p:grpSpPr>
            <a:xfrm>
              <a:off x="6264322" y="3301272"/>
              <a:ext cx="5076968" cy="802945"/>
              <a:chOff x="6564573" y="1196349"/>
              <a:chExt cx="5076968" cy="802945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7AD9265-1534-4C44-A041-F89782745EFC}"/>
                  </a:ext>
                </a:extLst>
              </p:cNvPr>
              <p:cNvSpPr/>
              <p:nvPr/>
            </p:nvSpPr>
            <p:spPr>
              <a:xfrm>
                <a:off x="6564573" y="1196349"/>
                <a:ext cx="802945" cy="80294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Georgia Pro Cond" panose="02040506050405020303" pitchFamily="18" charset="0"/>
                  </a:rPr>
                  <a:t>03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F1FE0B-0EE7-4934-8BD6-C36A7484D527}"/>
                  </a:ext>
                </a:extLst>
              </p:cNvPr>
              <p:cNvSpPr txBox="1"/>
              <p:nvPr/>
            </p:nvSpPr>
            <p:spPr>
              <a:xfrm>
                <a:off x="7531558" y="1274379"/>
                <a:ext cx="4109983" cy="626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69863" indent="-169863" defTabSz="684213"/>
                <a:r>
                  <a:rPr lang="en-US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History of OS development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46650F2-C9D2-4B0E-AEF5-CB1D61F238B6}"/>
                </a:ext>
              </a:extLst>
            </p:cNvPr>
            <p:cNvGrpSpPr/>
            <p:nvPr/>
          </p:nvGrpSpPr>
          <p:grpSpPr>
            <a:xfrm>
              <a:off x="6264322" y="4502257"/>
              <a:ext cx="5327790" cy="802945"/>
              <a:chOff x="6564573" y="1222043"/>
              <a:chExt cx="5327790" cy="802945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D64B040-4801-47DD-BE15-78876448C814}"/>
                  </a:ext>
                </a:extLst>
              </p:cNvPr>
              <p:cNvSpPr/>
              <p:nvPr/>
            </p:nvSpPr>
            <p:spPr>
              <a:xfrm>
                <a:off x="6564573" y="1222043"/>
                <a:ext cx="802945" cy="802945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Georgia Pro Cond" panose="02040506050405020303" pitchFamily="18" charset="0"/>
                  </a:rPr>
                  <a:t>04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BB3F74A-7294-4EB2-9269-00C3313F5E27}"/>
                  </a:ext>
                </a:extLst>
              </p:cNvPr>
              <p:cNvSpPr txBox="1"/>
              <p:nvPr/>
            </p:nvSpPr>
            <p:spPr>
              <a:xfrm>
                <a:off x="7531558" y="1274379"/>
                <a:ext cx="4360805" cy="566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69863" indent="-169863" defTabSz="684213"/>
                <a:r>
                  <a:rPr lang="en-US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Types </a:t>
                </a:r>
                <a:r>
                  <a:rPr lang="en-US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</a:t>
                </a:r>
                <a:endPara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1B2FE0-BD0C-47BA-8D14-B527564701F8}"/>
                </a:ext>
              </a:extLst>
            </p:cNvPr>
            <p:cNvGrpSpPr/>
            <p:nvPr/>
          </p:nvGrpSpPr>
          <p:grpSpPr>
            <a:xfrm>
              <a:off x="6283874" y="5690395"/>
              <a:ext cx="4806252" cy="802945"/>
              <a:chOff x="6584125" y="1234891"/>
              <a:chExt cx="4806252" cy="80294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059028F-FD20-4B3E-8668-09CED70CECDA}"/>
                  </a:ext>
                </a:extLst>
              </p:cNvPr>
              <p:cNvSpPr/>
              <p:nvPr/>
            </p:nvSpPr>
            <p:spPr>
              <a:xfrm>
                <a:off x="6584125" y="1234891"/>
                <a:ext cx="802945" cy="80294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Georgia Pro Cond" panose="02040506050405020303" pitchFamily="18" charset="0"/>
                  </a:rPr>
                  <a:t>05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8F3F840-1084-4195-9E93-10A791B28998}"/>
                  </a:ext>
                </a:extLst>
              </p:cNvPr>
              <p:cNvSpPr txBox="1"/>
              <p:nvPr/>
            </p:nvSpPr>
            <p:spPr>
              <a:xfrm>
                <a:off x="7512406" y="1274380"/>
                <a:ext cx="3877971" cy="626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69863" indent="-169863" defTabSz="684213"/>
                <a:r>
                  <a:rPr lang="en-US" alt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Basic Design issues of OS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316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217713"/>
            <a:ext cx="11835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Operating System?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583096" y="1126435"/>
            <a:ext cx="10941247" cy="499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defTabSz="684213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 = Hardware + Software</a:t>
            </a:r>
          </a:p>
          <a:p>
            <a:pPr marL="457200" indent="-457200" algn="just" defTabSz="684213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= Application Software + System Software(OS)</a:t>
            </a:r>
          </a:p>
          <a:p>
            <a:pPr marL="457200" indent="-457200" algn="just" defTabSz="684213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Operating System is a system software that acts as an intermediary/interface between a </a:t>
            </a:r>
            <a:r>
              <a:rPr lang="en-US" alt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computer and the </a:t>
            </a:r>
            <a:r>
              <a:rPr lang="en-US" alt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hardware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 defTabSz="684213"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goals:</a:t>
            </a:r>
          </a:p>
          <a:p>
            <a:pPr marL="827087" lvl="1" indent="-457200" algn="just" defTabSz="684213">
              <a:buFont typeface="Wingdings" panose="05000000000000000000" pitchFamily="2" charset="2"/>
              <a:buChar char="ü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user programs and make solving user problems easier</a:t>
            </a:r>
          </a:p>
          <a:p>
            <a:pPr marL="827087" lvl="1" indent="-457200" algn="just" defTabSz="684213">
              <a:buFont typeface="Wingdings" panose="05000000000000000000" pitchFamily="2" charset="2"/>
              <a:buChar char="ü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the computer system convenient to 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use.</a:t>
            </a:r>
            <a:endParaRPr lang="en-I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7087" lvl="1" indent="-457200" algn="just" defTabSz="684213">
              <a:buFont typeface="Wingdings" panose="05000000000000000000" pitchFamily="2" charset="2"/>
              <a:buChar char="ü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computer hardware in an efficient 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manner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54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143301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198785" y="968167"/>
            <a:ext cx="1029693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computer resources is divided into 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is isolated and only interacts directly with the layer below or above it.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a New Hardware Device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Needed for Users/Applications: Because the operating system provides an abstraction layer, applications can utilize new hardware transparently without requiring source code modifications.  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Updates (Device Drivers): Changes are required within the operating system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specifically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must install the appropriate device driver that enables the OS to communicate with and control the new hardware.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0270" y="1355034"/>
            <a:ext cx="1527559" cy="331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8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143301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Cont’d…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15833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a New Software Application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 need to make any physical changes or upgrades to your computer hardware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ensure that the application is fully supported by your current operating system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will need to learn how to navigate and use the new application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Upgrading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changing the OS requires verifying that both your hardware components (drivers, architecture) and software applications will be compatible with the new 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337018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143301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6" y="1200092"/>
            <a:ext cx="10769599" cy="524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4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143301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</a:rPr>
              <a:t>CPU – Central Processing Unit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995238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</a:rPr>
              <a:t>This is the brain of your computer. 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</a:rPr>
              <a:t>It performs all of the calculations. 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</a:rPr>
              <a:t>In order to do its job, the CPU needs commands to perform, and data to work with.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</a:rPr>
              <a:t>The instructions and data travel to and from the CPU on the system bus.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</a:rPr>
              <a:t>The operating system provides rules for how that information gets back and forth, and how it will be used by the CPU. </a:t>
            </a:r>
          </a:p>
          <a:p>
            <a:pPr marL="457200" indent="-457200"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sz="3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71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143301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– Random Access Memory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82">
              <a:buFont typeface="Wingdings" panose="05000000000000000000" pitchFamily="2" charset="2"/>
              <a:buChar char="§"/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like a desk, or a workspace, where your computer temporarily stores all of the information (data) and instructions (software or program code) that it is currently using.</a:t>
            </a:r>
          </a:p>
          <a:p>
            <a:pPr lvl="1" defTabSz="685782">
              <a:buFont typeface="Wingdings" panose="05000000000000000000" pitchFamily="2" charset="2"/>
              <a:buChar char="§"/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RAM chip contains millions of address spaces.</a:t>
            </a:r>
          </a:p>
          <a:p>
            <a:pPr lvl="1" defTabSz="685782">
              <a:buFont typeface="Wingdings" panose="05000000000000000000" pitchFamily="2" charset="2"/>
              <a:buChar char="§"/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address space is the same size, and has its own unique identifying number (address). </a:t>
            </a:r>
          </a:p>
          <a:p>
            <a:pPr lvl="1" defTabSz="685782">
              <a:buFont typeface="Wingdings" panose="05000000000000000000" pitchFamily="2" charset="2"/>
              <a:buChar char="§"/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provides the rules for using these memory spaces, and controls storage and retrieval of information from RAM. </a:t>
            </a:r>
          </a:p>
          <a:p>
            <a:pPr lvl="1" defTabSz="685782">
              <a:buFont typeface="Wingdings" panose="05000000000000000000" pitchFamily="2" charset="2"/>
              <a:buChar char="§"/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drivers for RAM chips are included with the operating system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80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143301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685782">
              <a:defRPr/>
            </a:pPr>
            <a:r>
              <a:rPr lang="en-US" sz="36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operating system manages RAM, how does the computer access RAM to load the operating system in the first place?</a:t>
            </a:r>
          </a:p>
        </p:txBody>
      </p:sp>
    </p:spTree>
    <p:extLst>
      <p:ext uri="{BB962C8B-B14F-4D97-AF65-F5344CB8AC3E}">
        <p14:creationId xmlns:p14="http://schemas.microsoft.com/office/powerpoint/2010/main" val="266768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-1842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Starting an Operating System(Booting)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154114"/>
            <a:ext cx="8181975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220685" y="3788226"/>
            <a:ext cx="4223657" cy="2783332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74174" tIns="37087" rIns="74174" bIns="37087">
            <a:spAutoFit/>
          </a:bodyPr>
          <a:lstStyle>
            <a:lvl1pPr marL="319088" indent="-3190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Times New Roman" panose="02020603050405020304" pitchFamily="18" charset="0"/>
              </a:rPr>
              <a:t>Power On Switch sends electricity to the motherboard on a wire called the </a:t>
            </a:r>
            <a:r>
              <a:rPr lang="en-US" altLang="en-US" sz="1600" i="1" dirty="0">
                <a:solidFill>
                  <a:srgbClr val="00B0F0"/>
                </a:solidFill>
                <a:latin typeface="Times New Roman" panose="02020603050405020304" pitchFamily="18" charset="0"/>
              </a:rPr>
              <a:t>Voltage Good</a:t>
            </a:r>
            <a:r>
              <a:rPr lang="en-US" altLang="en-US" sz="1600" dirty="0">
                <a:solidFill>
                  <a:srgbClr val="00B0F0"/>
                </a:solidFill>
                <a:latin typeface="Times New Roman" panose="02020603050405020304" pitchFamily="18" charset="0"/>
              </a:rPr>
              <a:t> line</a:t>
            </a:r>
            <a:r>
              <a:rPr lang="en-US" altLang="en-US" sz="1600" dirty="0">
                <a:latin typeface="Times New Roman" panose="02020603050405020304" pitchFamily="18" charset="0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Times New Roman" panose="02020603050405020304" pitchFamily="18" charset="0"/>
              </a:rPr>
              <a:t>If the power supply is good, then the </a:t>
            </a:r>
            <a:r>
              <a:rPr lang="en-US" altLang="en-US" sz="1600" dirty="0">
                <a:solidFill>
                  <a:srgbClr val="00B0F0"/>
                </a:solidFill>
                <a:latin typeface="Times New Roman" panose="02020603050405020304" pitchFamily="18" charset="0"/>
              </a:rPr>
              <a:t>BIOS (Basic </a:t>
            </a:r>
            <a:r>
              <a:rPr lang="en-US" altLang="en-US" sz="1600" dirty="0" err="1">
                <a:solidFill>
                  <a:srgbClr val="00B0F0"/>
                </a:solidFill>
                <a:latin typeface="Times New Roman" panose="02020603050405020304" pitchFamily="18" charset="0"/>
              </a:rPr>
              <a:t>Input/Output</a:t>
            </a:r>
            <a:r>
              <a:rPr lang="en-US" altLang="en-US" sz="1600" dirty="0">
                <a:solidFill>
                  <a:srgbClr val="00B0F0"/>
                </a:solidFill>
                <a:latin typeface="Times New Roman" panose="02020603050405020304" pitchFamily="18" charset="0"/>
              </a:rPr>
              <a:t> System) chip</a:t>
            </a:r>
            <a:r>
              <a:rPr lang="en-US" altLang="en-US" sz="1600" dirty="0">
                <a:latin typeface="Times New Roman" panose="02020603050405020304" pitchFamily="18" charset="0"/>
              </a:rPr>
              <a:t> takes over. </a:t>
            </a:r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Times New Roman" panose="02020603050405020304" pitchFamily="18" charset="0"/>
              </a:rPr>
              <a:t>In Real Mode, CPU is only capable of using approximately 1 MB of memory built into the motherboard. </a:t>
            </a:r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Times New Roman" panose="02020603050405020304" pitchFamily="18" charset="0"/>
              </a:rPr>
              <a:t>The BIOS will do a </a:t>
            </a:r>
            <a:r>
              <a:rPr lang="en-US" altLang="en-US" sz="1600" dirty="0">
                <a:solidFill>
                  <a:srgbClr val="00B0F0"/>
                </a:solidFill>
                <a:latin typeface="Times New Roman" panose="02020603050405020304" pitchFamily="18" charset="0"/>
              </a:rPr>
              <a:t>Power-On Self Test </a:t>
            </a:r>
            <a:r>
              <a:rPr lang="en-US" altLang="en-US" sz="1600" dirty="0">
                <a:latin typeface="Times New Roman" panose="02020603050405020304" pitchFamily="18" charset="0"/>
              </a:rPr>
              <a:t>(POST) to make sure that all hardware are working. 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6586991" y="3690938"/>
            <a:ext cx="4722812" cy="3090862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4174" tIns="37087" rIns="74174" bIns="37087">
            <a:spAutoFit/>
          </a:bodyPr>
          <a:lstStyle>
            <a:lvl1pPr marL="382588" indent="-3825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Times New Roman" panose="02020603050405020304" pitchFamily="18" charset="0"/>
              </a:rPr>
              <a:t>BIOS will then look for a small sector at the very beginning of your primary hard disk called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Boot Record (</a:t>
            </a:r>
            <a:r>
              <a:rPr lang="en-US" altLang="en-US" sz="1600" dirty="0">
                <a:solidFill>
                  <a:srgbClr val="00B0F0"/>
                </a:solidFill>
                <a:latin typeface="Times New Roman" panose="02020603050405020304" pitchFamily="18" charset="0"/>
              </a:rPr>
              <a:t>MBR)</a:t>
            </a:r>
            <a:r>
              <a:rPr lang="en-US" altLang="en-US" sz="1600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Times New Roman" panose="02020603050405020304" pitchFamily="18" charset="0"/>
              </a:rPr>
              <a:t>The MBR contains a list, or map, of all of the </a:t>
            </a:r>
            <a:r>
              <a:rPr lang="en-US" altLang="en-US" sz="1600" dirty="0">
                <a:solidFill>
                  <a:srgbClr val="00B0F0"/>
                </a:solidFill>
                <a:latin typeface="Times New Roman" panose="02020603050405020304" pitchFamily="18" charset="0"/>
              </a:rPr>
              <a:t>partitions</a:t>
            </a:r>
            <a:r>
              <a:rPr lang="en-US" altLang="en-US" sz="1600" dirty="0">
                <a:latin typeface="Times New Roman" panose="02020603050405020304" pitchFamily="18" charset="0"/>
              </a:rPr>
              <a:t> on your computer‘s hard disk (or disks).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Times New Roman" panose="02020603050405020304" pitchFamily="18" charset="0"/>
              </a:rPr>
              <a:t>After the MBR is found the </a:t>
            </a:r>
            <a:r>
              <a:rPr lang="en-US" altLang="en-US" sz="1600" dirty="0">
                <a:solidFill>
                  <a:srgbClr val="00B0F0"/>
                </a:solidFill>
                <a:latin typeface="Times New Roman" panose="02020603050405020304" pitchFamily="18" charset="0"/>
              </a:rPr>
              <a:t>Bootstrap Loader </a:t>
            </a:r>
            <a:r>
              <a:rPr lang="en-US" altLang="en-US" sz="1600" dirty="0">
                <a:latin typeface="Times New Roman" panose="02020603050405020304" pitchFamily="18" charset="0"/>
              </a:rPr>
              <a:t>follows basic instructions for starting up the rest of the computer, including the operating system.  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Times New Roman" panose="02020603050405020304" pitchFamily="18" charset="0"/>
              </a:rPr>
              <a:t>In Early Kernel Initialization stage, a smaller core of the Kernel is activated.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 sz="1600" dirty="0">
                <a:latin typeface="Times New Roman" panose="02020603050405020304" pitchFamily="18" charset="0"/>
              </a:rPr>
              <a:t>This core includes the </a:t>
            </a:r>
            <a:r>
              <a:rPr lang="en-US" altLang="en-US" sz="1600" dirty="0">
                <a:solidFill>
                  <a:srgbClr val="00B0F0"/>
                </a:solidFill>
                <a:latin typeface="Times New Roman" panose="02020603050405020304" pitchFamily="18" charset="0"/>
              </a:rPr>
              <a:t>device drivers </a:t>
            </a:r>
            <a:r>
              <a:rPr lang="en-US" altLang="en-US" sz="1600" dirty="0">
                <a:latin typeface="Times New Roman" panose="02020603050405020304" pitchFamily="18" charset="0"/>
              </a:rPr>
              <a:t>needed to use computer‘s </a:t>
            </a:r>
            <a:r>
              <a:rPr lang="en-US" altLang="en-US" sz="1600" dirty="0">
                <a:solidFill>
                  <a:srgbClr val="00B0F0"/>
                </a:solidFill>
                <a:latin typeface="Times New Roman" panose="02020603050405020304" pitchFamily="18" charset="0"/>
              </a:rPr>
              <a:t>RAM chips</a:t>
            </a:r>
            <a:r>
              <a:rPr lang="en-US" altLang="en-US" sz="1600" dirty="0">
                <a:latin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0517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143301"/>
            <a:ext cx="10317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Mode</a:t>
            </a:r>
            <a:endParaRPr lang="en-US" altLang="en-US" sz="48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 defTabSz="685782">
              <a:buFont typeface="Wingdings" panose="05000000000000000000" pitchFamily="2" charset="2"/>
              <a:buChar char="§"/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mode and kernel mode are two key states in an operating system. 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 defTabSz="685782">
              <a:buFont typeface="Wingdings" panose="05000000000000000000" pitchFamily="2" charset="2"/>
              <a:buChar char="§"/>
              <a:defRPr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runs regular applications with limited access to system resources, while kernel mode runs the core OS with full control over hardware. 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 defTabSz="685782">
              <a:buFont typeface="Wingdings" panose="05000000000000000000" pitchFamily="2" charset="2"/>
              <a:buChar char="§"/>
              <a:defRPr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ensures security, stability, and efficient resource management.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566" y="4347955"/>
            <a:ext cx="4333460" cy="242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143301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Mode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172277" y="1074054"/>
            <a:ext cx="8070575" cy="4506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4174" tIns="37087" rIns="74174" bIns="37087">
            <a:spAutoFit/>
          </a:bodyPr>
          <a:lstStyle>
            <a:lvl1pPr marL="382588" indent="-3825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is a restricted environment where application programs run.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starts, the OS creates a separate process and assigns it its own memory space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user mode can’t access hardware or kernel memory directly.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request access through system calls to the kernel.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35617" y="1240972"/>
            <a:ext cx="3856383" cy="521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4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143301"/>
            <a:ext cx="103177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mode(Cont’d…)</a:t>
            </a:r>
            <a:endParaRPr lang="en-US" altLang="en-US" sz="44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41663"/>
            <a:ext cx="1175783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User Mode</a:t>
            </a:r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runs in its own memory space.</a:t>
            </a:r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through kernel services.</a:t>
            </a:r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crashes don’t affect the whole system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Easier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debugging, crash containment, strict process isolation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controlled kernel access,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system stability and reliability, and improved security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system call latency due to mode switching, restricted low-level capabilities, heavy reliance on the kernel, reduced real-time suitability, and limited developer control.</a:t>
            </a:r>
          </a:p>
        </p:txBody>
      </p:sp>
    </p:spTree>
    <p:extLst>
      <p:ext uri="{BB962C8B-B14F-4D97-AF65-F5344CB8AC3E}">
        <p14:creationId xmlns:p14="http://schemas.microsoft.com/office/powerpoint/2010/main" val="217063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143301"/>
            <a:ext cx="10317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Kernel Mode</a:t>
            </a:r>
            <a:endParaRPr lang="en-US" altLang="en-US" sz="48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4811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Mode is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privileged mode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the core part of the operating system,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base"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unrestricted access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all machine resources including CPU, memory, storage, and connected devices.</a:t>
            </a:r>
          </a:p>
          <a:p>
            <a:pPr marL="457200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program running in user mode makes a request that requires hardware access, the system switches the CPU into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mode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perform the task.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base"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execution, control returns to user mode.</a:t>
            </a:r>
          </a:p>
          <a:p>
            <a:pPr marL="688993" indent="-571500">
              <a:spcBef>
                <a:spcPts val="808"/>
              </a:spcBef>
              <a:buClr>
                <a:srgbClr val="90C225"/>
              </a:buClr>
              <a:buSzPct val="79000"/>
              <a:buFont typeface="Wingdings" panose="05000000000000000000" pitchFamily="2" charset="2"/>
              <a:buChar char="§"/>
              <a:tabLst>
                <a:tab pos="287973" algn="l"/>
              </a:tabLst>
              <a:defRPr/>
            </a:pPr>
            <a:endParaRPr lang="en-US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63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-1842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n-US" altLang="en-US" sz="4000" b="1" dirty="0" smtClean="0">
                <a:latin typeface="Times New Roman" panose="02020603050405020304" pitchFamily="18" charset="0"/>
              </a:rPr>
              <a:t> (</a:t>
            </a:r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Cont’d…)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106017" y="968167"/>
            <a:ext cx="11887200" cy="5550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37" indent="-331744" algn="just">
              <a:spcBef>
                <a:spcPts val="808"/>
              </a:spcBef>
              <a:buClr>
                <a:srgbClr val="90C225"/>
              </a:buClr>
              <a:buSzPct val="79000"/>
              <a:buFont typeface="Wingdings" panose="05000000000000000000" pitchFamily="2" charset="2"/>
              <a:buChar char="§"/>
              <a:tabLst>
                <a:tab pos="287973" algn="l"/>
              </a:tabLst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Kernel Mode</a:t>
            </a:r>
          </a:p>
          <a:p>
            <a:pPr marL="906437" lvl="1" indent="-331744" algn="just">
              <a:spcBef>
                <a:spcPts val="808"/>
              </a:spcBef>
              <a:buClr>
                <a:srgbClr val="90C225"/>
              </a:buClr>
              <a:buSzPct val="79000"/>
              <a:buFont typeface="Wingdings" panose="05000000000000000000" pitchFamily="2" charset="2"/>
              <a:buChar char="§"/>
              <a:tabLst>
                <a:tab pos="287973" algn="l"/>
              </a:tabLst>
              <a:defRPr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with I/O devices, memory, and processor.</a:t>
            </a:r>
          </a:p>
          <a:p>
            <a:pPr marL="906437" lvl="1" indent="-331744" algn="just">
              <a:spcBef>
                <a:spcPts val="808"/>
              </a:spcBef>
              <a:buClr>
                <a:srgbClr val="90C225"/>
              </a:buClr>
              <a:buSzPct val="79000"/>
              <a:buFont typeface="Wingdings" panose="05000000000000000000" pitchFamily="2" charset="2"/>
              <a:buChar char="§"/>
              <a:tabLst>
                <a:tab pos="287973" algn="l"/>
              </a:tabLst>
              <a:defRPr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scheduling, memory, and device drivers.</a:t>
            </a:r>
          </a:p>
          <a:p>
            <a:pPr marL="906437" lvl="1" indent="-331744" algn="just">
              <a:spcBef>
                <a:spcPts val="808"/>
              </a:spcBef>
              <a:buClr>
                <a:srgbClr val="90C225"/>
              </a:buClr>
              <a:buSzPct val="79000"/>
              <a:buFont typeface="Wingdings" panose="05000000000000000000" pitchFamily="2" charset="2"/>
              <a:buChar char="§"/>
              <a:tabLst>
                <a:tab pos="287973" algn="l"/>
              </a:tabLst>
              <a:defRPr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that affect system-wide behavior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49237" indent="-331744" algn="just">
              <a:spcBef>
                <a:spcPts val="808"/>
              </a:spcBef>
              <a:buClr>
                <a:srgbClr val="90C225"/>
              </a:buClr>
              <a:buSzPct val="79000"/>
              <a:buFont typeface="Wingdings" panose="05000000000000000000" pitchFamily="2" charset="2"/>
              <a:buChar char="§"/>
              <a:tabLst>
                <a:tab pos="287973" algn="l"/>
              </a:tabLst>
              <a:defRPr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6437" lvl="1" indent="-331744" algn="just">
              <a:spcBef>
                <a:spcPts val="808"/>
              </a:spcBef>
              <a:buClr>
                <a:srgbClr val="90C225"/>
              </a:buClr>
              <a:buSzPct val="79000"/>
              <a:buFont typeface="Wingdings" panose="05000000000000000000" pitchFamily="2" charset="2"/>
              <a:buChar char="§"/>
              <a:tabLst>
                <a:tab pos="287973" algn="l"/>
              </a:tabLst>
              <a:defRPr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access, efficient direct resource management (CPU, RAM, I/O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overhead for system calls, and advanced scheduling control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49237" indent="-331744" algn="just">
              <a:spcBef>
                <a:spcPts val="808"/>
              </a:spcBef>
              <a:buClr>
                <a:srgbClr val="90C225"/>
              </a:buClr>
              <a:buSzPct val="79000"/>
              <a:buFont typeface="Wingdings" panose="05000000000000000000" pitchFamily="2" charset="2"/>
              <a:buChar char="§"/>
              <a:tabLst>
                <a:tab pos="287973" algn="l"/>
              </a:tabLst>
              <a:defRPr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6437" lvl="1" indent="-331744" algn="just">
              <a:spcBef>
                <a:spcPts val="808"/>
              </a:spcBef>
              <a:buClr>
                <a:srgbClr val="90C225"/>
              </a:buClr>
              <a:buSzPct val="79000"/>
              <a:buFont typeface="Wingdings" panose="05000000000000000000" pitchFamily="2" charset="2"/>
              <a:buChar char="§"/>
              <a:tabLst>
                <a:tab pos="287973" algn="l"/>
              </a:tabLst>
              <a:defRPr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total system crashes from bugs, difficult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debugging,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development requirements, and lack of process isolation (shared memory corruption risks).</a:t>
            </a:r>
          </a:p>
        </p:txBody>
      </p:sp>
    </p:spTree>
    <p:extLst>
      <p:ext uri="{BB962C8B-B14F-4D97-AF65-F5344CB8AC3E}">
        <p14:creationId xmlns:p14="http://schemas.microsoft.com/office/powerpoint/2010/main" val="263498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-1842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620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7338">
              <a:spcBef>
                <a:spcPts val="813"/>
              </a:spcBef>
              <a:buClr>
                <a:srgbClr val="90C225"/>
              </a:buClr>
              <a:buSzPct val="79000"/>
              <a:buFont typeface="Wingdings" panose="05000000000000000000" pitchFamily="2" charset="2"/>
              <a:buChar char="Ø"/>
              <a:tabLst>
                <a:tab pos="287338" algn="l"/>
              </a:tabLst>
            </a:pPr>
            <a:r>
              <a:rPr lang="en-US" altLang="en-US" sz="2800" dirty="0"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Kernel includes:-</a:t>
            </a:r>
          </a:p>
          <a:p>
            <a:pPr marL="379413" lvl="1" indent="0">
              <a:spcBef>
                <a:spcPts val="813"/>
              </a:spcBef>
              <a:buClr>
                <a:srgbClr val="90C225"/>
              </a:buClr>
              <a:buSzPct val="79000"/>
              <a:buNone/>
              <a:tabLst>
                <a:tab pos="287338" algn="l"/>
              </a:tabLst>
            </a:pPr>
            <a:r>
              <a:rPr lang="en-US" altLang="en-US" sz="2800" dirty="0">
                <a:solidFill>
                  <a:srgbClr val="00B0F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1. Scheduler: </a:t>
            </a:r>
            <a:r>
              <a:rPr lang="en-US" altLang="en-US" sz="2800" dirty="0"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It allocates the Kernel’s processing time to various processes.</a:t>
            </a:r>
          </a:p>
          <a:p>
            <a:pPr marL="379413" lvl="1" indent="0">
              <a:spcBef>
                <a:spcPts val="813"/>
              </a:spcBef>
              <a:buClr>
                <a:srgbClr val="90C225"/>
              </a:buClr>
              <a:buSzPct val="79000"/>
              <a:buNone/>
              <a:tabLst>
                <a:tab pos="287338" algn="l"/>
              </a:tabLst>
            </a:pPr>
            <a:r>
              <a:rPr lang="en-US" altLang="en-US" sz="2800" dirty="0">
                <a:solidFill>
                  <a:srgbClr val="00B0F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2. Supervisor: </a:t>
            </a:r>
            <a:r>
              <a:rPr lang="en-US" altLang="en-US" sz="2800" dirty="0"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It grants permission to use computer system resources to each process.</a:t>
            </a:r>
          </a:p>
          <a:p>
            <a:pPr marL="379413" lvl="1" indent="0">
              <a:spcBef>
                <a:spcPts val="813"/>
              </a:spcBef>
              <a:buClr>
                <a:srgbClr val="90C225"/>
              </a:buClr>
              <a:buSzPct val="79000"/>
              <a:buNone/>
              <a:tabLst>
                <a:tab pos="287338" algn="l"/>
              </a:tabLst>
            </a:pPr>
            <a:r>
              <a:rPr lang="en-US" altLang="en-US" sz="2800" dirty="0">
                <a:solidFill>
                  <a:srgbClr val="00B0F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3. Interrupt handler </a:t>
            </a:r>
            <a:r>
              <a:rPr lang="en-US" altLang="en-US" sz="2800" dirty="0"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: It handles all requests from the various  hardware devices which compete for kernel services.</a:t>
            </a:r>
          </a:p>
          <a:p>
            <a:pPr marL="379413" lvl="1" indent="0">
              <a:spcBef>
                <a:spcPts val="825"/>
              </a:spcBef>
              <a:buClr>
                <a:srgbClr val="90C225"/>
              </a:buClr>
              <a:buSzPct val="79000"/>
              <a:buNone/>
              <a:tabLst>
                <a:tab pos="287338" algn="l"/>
              </a:tabLst>
            </a:pPr>
            <a:r>
              <a:rPr lang="en-US" altLang="en-US" sz="2800" dirty="0">
                <a:solidFill>
                  <a:srgbClr val="00B0F0"/>
                </a:solidFill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4. Memory manager </a:t>
            </a:r>
            <a:r>
              <a:rPr lang="en-US" altLang="en-US" sz="2800" dirty="0"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: allocates space in memory for all users  of kernel service.</a:t>
            </a:r>
          </a:p>
          <a:p>
            <a:pPr marL="287338">
              <a:buFont typeface="Wingdings" panose="05000000000000000000" pitchFamily="2" charset="2"/>
              <a:buChar char="Ø"/>
              <a:tabLst>
                <a:tab pos="287338" algn="l"/>
              </a:tabLst>
            </a:pPr>
            <a:r>
              <a:rPr lang="en-US" altLang="en-US" sz="2800" dirty="0"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kernel provides services for process management, file management, I/O  management, memory management.</a:t>
            </a:r>
          </a:p>
          <a:p>
            <a:pPr marL="287338">
              <a:buFont typeface="Wingdings" panose="05000000000000000000" pitchFamily="2" charset="2"/>
              <a:buChar char="Ø"/>
              <a:tabLst>
                <a:tab pos="287338" algn="l"/>
              </a:tabLst>
            </a:pPr>
            <a:r>
              <a:rPr lang="en-US" altLang="en-US" sz="2800" dirty="0"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</a:rPr>
              <a:t>System calls are used to  provide these type of services.</a:t>
            </a:r>
          </a:p>
          <a:p>
            <a:pPr marL="379413" lvl="1" indent="0">
              <a:spcBef>
                <a:spcPts val="825"/>
              </a:spcBef>
              <a:buClr>
                <a:srgbClr val="90C225"/>
              </a:buClr>
              <a:buSzPct val="79000"/>
              <a:buNone/>
              <a:tabLst>
                <a:tab pos="287338" algn="l"/>
              </a:tabLst>
            </a:pPr>
            <a:endParaRPr lang="en-US" altLang="en-US" sz="2800" dirty="0">
              <a:latin typeface="Times New Roman" panose="02020603050405020304" pitchFamily="18" charset="0"/>
              <a:ea typeface="Trebuchet MS" panose="020B0603020202020204" pitchFamily="34" charset="0"/>
              <a:cs typeface="Times New Roman" panose="02020603050405020304" pitchFamily="18" charset="0"/>
            </a:endParaRPr>
          </a:p>
          <a:p>
            <a:pPr marL="287338">
              <a:tabLst>
                <a:tab pos="287338" algn="l"/>
              </a:tabLs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43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-1842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Differences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813827"/>
              </p:ext>
            </p:extLst>
          </p:nvPr>
        </p:nvGraphicFramePr>
        <p:xfrm>
          <a:off x="1161143" y="1582057"/>
          <a:ext cx="10377714" cy="518293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94430">
                  <a:extLst>
                    <a:ext uri="{9D8B030D-6E8A-4147-A177-3AD203B41FA5}">
                      <a16:colId xmlns:a16="http://schemas.microsoft.com/office/drawing/2014/main" val="1146090529"/>
                    </a:ext>
                  </a:extLst>
                </a:gridCol>
                <a:gridCol w="3555328">
                  <a:extLst>
                    <a:ext uri="{9D8B030D-6E8A-4147-A177-3AD203B41FA5}">
                      <a16:colId xmlns:a16="http://schemas.microsoft.com/office/drawing/2014/main" val="560110326"/>
                    </a:ext>
                  </a:extLst>
                </a:gridCol>
                <a:gridCol w="4227956">
                  <a:extLst>
                    <a:ext uri="{9D8B030D-6E8A-4147-A177-3AD203B41FA5}">
                      <a16:colId xmlns:a16="http://schemas.microsoft.com/office/drawing/2014/main" val="3312759991"/>
                    </a:ext>
                  </a:extLst>
                </a:gridCol>
              </a:tblGrid>
              <a:tr h="6640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Mode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Kernel Mode</a:t>
                      </a:r>
                      <a:endParaRPr lang="en-US" sz="3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extLst>
                  <a:ext uri="{0D108BD9-81ED-4DB2-BD59-A6C34878D82A}">
                    <a16:rowId xmlns:a16="http://schemas.microsoft.com/office/drawing/2014/main" val="67532912"/>
                  </a:ext>
                </a:extLst>
              </a:tr>
              <a:tr h="6640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Level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Restricted access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access to hardware</a:t>
                      </a:r>
                      <a:endParaRPr lang="en-US" sz="3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extLst>
                  <a:ext uri="{0D108BD9-81ED-4DB2-BD59-A6C34878D82A}">
                    <a16:rowId xmlns:a16="http://schemas.microsoft.com/office/drawing/2014/main" val="1365272634"/>
                  </a:ext>
                </a:extLst>
              </a:tr>
              <a:tr h="6640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Privileges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Privileged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extLst>
                  <a:ext uri="{0D108BD9-81ED-4DB2-BD59-A6C34878D82A}">
                    <a16:rowId xmlns:a16="http://schemas.microsoft.com/office/drawing/2014/main" val="3044449259"/>
                  </a:ext>
                </a:extLst>
              </a:tr>
              <a:tr h="6640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Access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application memory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Entire system memory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extLst>
                  <a:ext uri="{0D108BD9-81ED-4DB2-BD59-A6C34878D82A}">
                    <a16:rowId xmlns:a16="http://schemas.microsoft.com/office/drawing/2014/main" val="3039176035"/>
                  </a:ext>
                </a:extLst>
              </a:tr>
              <a:tr h="6640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Access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Indirect via system calls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hardware interaction</a:t>
                      </a:r>
                      <a:endParaRPr lang="en-US" sz="3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extLst>
                  <a:ext uri="{0D108BD9-81ED-4DB2-BD59-A6C34878D82A}">
                    <a16:rowId xmlns:a16="http://schemas.microsoft.com/office/drawing/2014/main" val="3516185952"/>
                  </a:ext>
                </a:extLst>
              </a:tr>
              <a:tr h="10335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Stability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Crashes affect only the process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Crashes can crash the whole OS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extLst>
                  <a:ext uri="{0D108BD9-81ED-4DB2-BD59-A6C34878D82A}">
                    <a16:rowId xmlns:a16="http://schemas.microsoft.com/office/drawing/2014/main" val="3600748312"/>
                  </a:ext>
                </a:extLst>
              </a:tr>
              <a:tr h="6640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user applications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OS core, device drivers</a:t>
                      </a:r>
                      <a:endParaRPr lang="en-US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793" marB="50793"/>
                </a:tc>
                <a:extLst>
                  <a:ext uri="{0D108BD9-81ED-4DB2-BD59-A6C34878D82A}">
                    <a16:rowId xmlns:a16="http://schemas.microsoft.com/office/drawing/2014/main" val="1655308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64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-1842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106016" y="968167"/>
            <a:ext cx="1196986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programs cannot directly access hardware or critical OS resources because it would make the system unstable and insecure.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safety, the operating system provides system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calls controlled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that allow user programs to request services from the kernel.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act as a gateway between user mode and kernel mode.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are,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way for programs to interact with the operating system.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the services of the operating system to the user programs.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entry points into the kernel are executed in kernel mode.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15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-1842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106016" y="968167"/>
            <a:ext cx="1196986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System Calls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provided by an OS are typically related to any kind of operation that a user program can perform like creation, termination, forking, moving, communication, etc.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operations are grouped into one single system call category. System calls are classified into the following categories: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939" y="3607471"/>
            <a:ext cx="6626087" cy="325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8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864790" y="114270"/>
            <a:ext cx="103177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Operating System</a:t>
            </a:r>
          </a:p>
          <a:p>
            <a:pPr algn="ctr">
              <a:defRPr/>
            </a:pPr>
            <a:endParaRPr lang="en-US" alt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01644" y="1087436"/>
            <a:ext cx="1175783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Operating System (OS) is software that acts as a bridge between the user and the computer hardware.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base"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environment where users can execute programs efficiently and conveniently.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and controls all computer resources.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services and resources to user programs.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 and monitors program execution to prevent errors.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user interface (virtual machine) and hides software complexity.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execution modes for programs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5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37478" y="99757"/>
            <a:ext cx="12096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Operating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System(Cont’d…)</a:t>
            </a:r>
            <a:endParaRPr lang="en-US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5" name="object 3"/>
          <p:cNvSpPr>
            <a:spLocks noChangeArrowheads="1"/>
          </p:cNvSpPr>
          <p:nvPr/>
        </p:nvSpPr>
        <p:spPr bwMode="auto">
          <a:xfrm>
            <a:off x="2152650" y="1789114"/>
            <a:ext cx="7721600" cy="355758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endParaRPr lang="en-US" altLang="en-US" sz="1959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45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91885" y="914400"/>
            <a:ext cx="11538857" cy="5715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 in operating system is about managing processes.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is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running program.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cycle of process is from the moment program start until it finishes.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14516" y="0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51039" y="304800"/>
            <a:ext cx="8862104" cy="406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4213"/>
            <a:r>
              <a:rPr lang="en-US" alt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</a:t>
            </a:r>
            <a:endParaRPr lang="en-US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974" y="3008243"/>
            <a:ext cx="6643316" cy="369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0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91885" y="914400"/>
            <a:ext cx="11538857" cy="5715000"/>
          </a:xfrm>
        </p:spPr>
        <p:txBody>
          <a:bodyPr>
            <a:normAutofit/>
          </a:bodyPr>
          <a:lstStyle/>
          <a:p>
            <a:pPr fontAlgn="base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 in Process Management:</a:t>
            </a:r>
          </a:p>
          <a:p>
            <a:pPr lvl="1" fontAlgn="base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Scheduling: Decides which process uses the CPU next (using algorithms like Round Robin or Priority Scheduling).</a:t>
            </a:r>
          </a:p>
          <a:p>
            <a:pPr lvl="1" fontAlgn="base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Synchronization: Ensures orderly execution using locks, semaphores, or monitors to prevent race conditions.</a:t>
            </a:r>
          </a:p>
          <a:p>
            <a:pPr lvl="1" fontAlgn="base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Handling: Detects and prevents situations where processes wait forever for resources.</a:t>
            </a:r>
          </a:p>
          <a:p>
            <a:pPr lvl="1" fontAlgn="base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Inter-Process Communication (IPC): Allows processes to exchange data via shared memory or message passing.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14516" y="0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51039" y="304800"/>
            <a:ext cx="8862104" cy="406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4213"/>
            <a:r>
              <a:rPr lang="en-US" alt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89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32523" y="940904"/>
            <a:ext cx="11798220" cy="568849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in an operating system controls how data is stored and organized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main (primary) memory and secondary storage,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programs get the memory they need and freeing it when no longer used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 in Memory Management:</a:t>
            </a:r>
          </a:p>
          <a:p>
            <a:pPr lvl="1" fontAlgn="base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&amp;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Deallocation </a:t>
            </a:r>
          </a:p>
          <a:p>
            <a:pPr lvl="1" fontAlgn="base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Handling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</a:t>
            </a:r>
          </a:p>
          <a:p>
            <a:pPr lvl="2" fontAlgn="base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space,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fontAlgn="base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disk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scheduling, and backups.</a:t>
            </a:r>
          </a:p>
          <a:p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14516" y="-43543"/>
            <a:ext cx="12192000" cy="812800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65553" y="217710"/>
            <a:ext cx="8862104" cy="3483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4213"/>
            <a:r>
              <a:rPr lang="en-US" alt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252" y="2319130"/>
            <a:ext cx="4465983" cy="438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5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9"/>
            <a:ext cx="12192000" cy="79235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0" y="8916"/>
            <a:ext cx="12032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</a:t>
            </a:r>
            <a:endParaRPr lang="en-US" altLang="en-US" sz="48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0" y="968167"/>
            <a:ext cx="120758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 in an operating system organizes and controls how data is stored, named, and accessed on storage devices, making it easy for users to find and use their files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endParaRPr lang="en-US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10" y="2578755"/>
            <a:ext cx="9965634" cy="400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5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41"/>
            <a:ext cx="12192000" cy="705273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4" y="-1842"/>
            <a:ext cx="10317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 Management or I/O Management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172278" y="756133"/>
            <a:ext cx="11757834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management in an operating system controls how the computer communicates with hardware devices like printers or disks, using drivers and techniques to ensure smooth and efficient operation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components in Device Management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Drivers: Interface between hardware and OS.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Buffering &amp; Caching: Temporarily store data to match device speeds and improve performance.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Spooling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anages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waiting to be processed, particularly in devices like printers.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places print jobs in a spool (a temporary storage area), allowing the CPU to continue other tasks while the printer works through the queue.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73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-8589"/>
            <a:ext cx="12192000" cy="82138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-1842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Protection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defTabSz="684213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mechanisms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OS are designed to safeguard system resources from unauthorized access or misuse.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defTabSz="684213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control which processes or users can access specific resources (such as memory, files, and CPU time).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defTabSz="684213"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ensures that only authorized users can perform specific actions.</a:t>
            </a:r>
            <a:endParaRPr lang="en-US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783" y="3472068"/>
            <a:ext cx="8653669" cy="329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0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40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57815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Mechanism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684213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3200" b="1" dirty="0">
                <a:solidFill>
                  <a:srgbClr val="A524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b="1" dirty="0">
                <a:solidFill>
                  <a:srgbClr val="A524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3200" dirty="0">
                <a:solidFill>
                  <a:srgbClr val="6758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how you enter data and instructions and how information is displayed on the 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684213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user interfaces </a:t>
            </a:r>
          </a:p>
          <a:p>
            <a:pPr marL="787400" lvl="1" indent="-415925" defTabSz="684213">
              <a:buFont typeface="Times New Roman" panose="02020603050405020304" pitchFamily="18" charset="0"/>
              <a:buAutoNum type="arabicPeriod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Line Interface</a:t>
            </a:r>
          </a:p>
          <a:p>
            <a:pPr marL="787400" lvl="1" indent="-415925" defTabSz="684213">
              <a:buFont typeface="Times New Roman" panose="02020603050405020304" pitchFamily="18" charset="0"/>
              <a:buAutoNum type="arabicPeriod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6945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9"/>
            <a:ext cx="12192000" cy="690761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-1842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684213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command-line interface, a user types commands represented by short keywords or abbreviations or presses special keys on the keyboard to enter data and instructions</a:t>
            </a:r>
          </a:p>
          <a:p>
            <a:pPr marL="342900" indent="-342900" defTabSz="684213">
              <a:buFont typeface="Wingdings" panose="05000000000000000000" pitchFamily="2" charset="2"/>
              <a:buChar char="§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614" y="2759980"/>
            <a:ext cx="8471881" cy="348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253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40"/>
            <a:ext cx="12192000" cy="777846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2672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684213">
              <a:buFont typeface="Wingdings" panose="05000000000000000000" pitchFamily="2" charset="2"/>
              <a:buChar char="v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graphical user interface (GUI), you interact with menus and visual images</a:t>
            </a:r>
          </a:p>
          <a:p>
            <a:pPr marL="342900" indent="-342900" defTabSz="684213">
              <a:buFont typeface="Wingdings" panose="05000000000000000000" pitchFamily="2" charset="2"/>
              <a:buChar char="v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121" y="2158320"/>
            <a:ext cx="8394495" cy="379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592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7"/>
            <a:ext cx="12192000" cy="79235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-1635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Operating System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198783" y="716376"/>
            <a:ext cx="1175783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82">
              <a:buFont typeface="Wingdings" panose="05000000000000000000" pitchFamily="2" charset="2"/>
              <a:buChar char="§"/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Generations of Operating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am-ET" alt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85782">
              <a:buFont typeface="Wingdings" panose="05000000000000000000" pitchFamily="2" charset="2"/>
              <a:buChar char="§"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1940s-1950s: Early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Beginnings</a:t>
            </a:r>
            <a:endParaRPr lang="am-ET" sz="2800" b="1" dirty="0" smtClean="0">
              <a:cs typeface="Times New Roman" panose="02020603050405020304" pitchFamily="18" charset="0"/>
            </a:endParaRPr>
          </a:p>
          <a:p>
            <a:pPr lvl="1" defTabSz="685782">
              <a:buFont typeface="Wingdings" panose="05000000000000000000" pitchFamily="2" charset="2"/>
              <a:buChar char="§"/>
              <a:defRPr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operated without dedicated OS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software.</a:t>
            </a:r>
          </a:p>
          <a:p>
            <a:pPr lvl="1" defTabSz="685782"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rograms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loaded manually and run one at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685782">
              <a:buFont typeface="Wingdings" panose="05000000000000000000" pitchFamily="2" charset="2"/>
              <a:buChar char="§"/>
              <a:defRPr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Punched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cards.</a:t>
            </a:r>
          </a:p>
          <a:p>
            <a:pPr lvl="1" defTabSz="685782">
              <a:buFont typeface="Wingdings" panose="05000000000000000000" pitchFamily="2" charset="2"/>
              <a:buChar char="§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operating system was introduced in 1956. </a:t>
            </a:r>
          </a:p>
          <a:p>
            <a:pPr lvl="1" defTabSz="685782">
              <a:buFont typeface="Wingdings" panose="05000000000000000000" pitchFamily="2" charset="2"/>
              <a:buChar char="§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am-E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 system GM-NAA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(1956) that automated job handling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85782">
              <a:buFont typeface="Wingdings" panose="05000000000000000000" pitchFamily="2" charset="2"/>
              <a:buChar char="§"/>
              <a:defRPr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1960s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Multiprogramming and Timesharing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multiprogramming 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CPU efficiently.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Timesharing systems, like CTSS (1961) and Multics (1969), allowed multiple users to interact with a single system.</a:t>
            </a:r>
          </a:p>
          <a:p>
            <a:pPr marL="342891" lvl="1" indent="0" defTabSz="685782">
              <a:buNone/>
              <a:defRPr/>
            </a:pPr>
            <a:endParaRPr lang="en-US" altLang="en-US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54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7"/>
            <a:ext cx="12192000" cy="79235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-1635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198783" y="716376"/>
            <a:ext cx="11757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1970s: Unix and Personal Computers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(1971) revolutionized OS design with simplicity, portability, and multitasking.</a:t>
            </a:r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computers emerged, leading to simpler OSs like CP/M (1974) and PC-DOS (1981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fontAlgn="base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1980s: GUI and Networking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User Interfaces (GUIs) gained popularity with systems like Apple Macintosh (1984) and Microsoft Windows (1985).</a:t>
            </a:r>
          </a:p>
          <a:p>
            <a:pPr marL="742950" lvl="1" indent="-28575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features, like TCP/IP in Unix, became essential.</a:t>
            </a:r>
          </a:p>
          <a:p>
            <a:pPr marL="457200" indent="-457200" fontAlgn="base">
              <a:buFont typeface="Wingdings" panose="05000000000000000000" pitchFamily="2" charset="2"/>
              <a:buChar char="§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78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7"/>
            <a:ext cx="12192000" cy="79235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-1635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198783" y="716376"/>
            <a:ext cx="117578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1990s: Linux and Advanced GUIs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(1991) introduced open-source development.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and Mac OS refined GUIs and gained widespread adoption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2000s-Present: Mobility and Cloud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OSs like iOS (2007) and Android (2008) dominate.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and virtualization technologies reshape computing, with OSs like Windows Server and Linux driving innovation.</a:t>
            </a:r>
          </a:p>
          <a:p>
            <a:pPr marL="457200" indent="-457200" fontAlgn="base">
              <a:buFont typeface="Wingdings" panose="05000000000000000000" pitchFamily="2" charset="2"/>
              <a:buChar char="§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13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7"/>
            <a:ext cx="12192000" cy="79235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-1635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198783" y="716376"/>
            <a:ext cx="1175783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 - (Ongoing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growth of time,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 into picture.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integrates features of AI technology like Siri, Google Assistant, and Alexa and became more powerful and efficient in many way.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fontAlgn="base"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features with operating system create a entire new feature like voice commands, predictive text, and personalized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4753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42"/>
            <a:ext cx="12192000" cy="748815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-95869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Operating Systems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765597"/>
            <a:ext cx="117578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(OS) is software that manages computer hardware and software resources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acts as a bridge between users and the computer, ensuring smooth operation.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OS serve different needs; some handle one task at a time, while others manage multiple users or real-time processes.</a:t>
            </a:r>
            <a:endParaRPr lang="en-US" alt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912" y="3399181"/>
            <a:ext cx="8799445" cy="354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0" y="128787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Batch Operating System 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handle large groups of similar jobs efficiently.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user prepares his job on an off-line device like </a:t>
            </a:r>
            <a:r>
              <a:rPr lang="en-I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punch cards </a:t>
            </a: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submits it to the computer operator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interact with the computer directly but instead processes jobs that are grouped by an operator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are queued and executed one after the other, without user interaction during the process.</a:t>
            </a:r>
            <a:endParaRPr lang="en-US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043" y="3975652"/>
            <a:ext cx="7421219" cy="288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0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9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70729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1040741"/>
            <a:ext cx="11757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Minimal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 time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800100" lvl="1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of repetitive tasks (e.g., payroll, billing),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800100" lvl="1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throughput.  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during I/O waits,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igh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times due to sequential processing,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800100" lvl="1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lack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real-time user interaction. 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Insurance claim processing, library book records, and stock market reports. </a:t>
            </a:r>
          </a:p>
        </p:txBody>
      </p:sp>
    </p:spTree>
    <p:extLst>
      <p:ext uri="{BB962C8B-B14F-4D97-AF65-F5344CB8AC3E}">
        <p14:creationId xmlns:p14="http://schemas.microsoft.com/office/powerpoint/2010/main" val="30195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99757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Multiprogramming Operating </a:t>
            </a:r>
            <a:r>
              <a:rPr lang="en-US" alt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Multiprogramming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Operating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run in memory at the same time.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switches between programs, utilizing its resources more effectively and improving overall system performance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Multiprogramming operating systems use the mechanism of job scheduling and CPU scheduling.</a:t>
            </a: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685782"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15"/>
          <p:cNvSpPr>
            <a:spLocks noChangeArrowheads="1"/>
          </p:cNvSpPr>
          <p:nvPr/>
        </p:nvSpPr>
        <p:spPr bwMode="auto">
          <a:xfrm>
            <a:off x="2336800" y="4176032"/>
            <a:ext cx="7518400" cy="23812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endParaRPr lang="en-US" altLang="en-US" sz="1959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86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9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1" y="7072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1040741"/>
            <a:ext cx="11757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</a:p>
          <a:p>
            <a:pPr marL="914400" lvl="1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via I/O switching,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mproved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from concurrent job execution,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914400" lvl="1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fficient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of system resources.</a:t>
            </a:r>
          </a:p>
          <a:p>
            <a:pPr marL="342900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 </a:t>
            </a:r>
          </a:p>
          <a:p>
            <a:pPr marL="800100" lvl="1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requiring advanced memory management and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scheduling,</a:t>
            </a:r>
          </a:p>
          <a:p>
            <a:pPr marL="800100" lvl="1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otential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vulnerabilities from shared memory,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800100" lvl="1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igher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requirements.</a:t>
            </a:r>
          </a:p>
          <a:p>
            <a:pPr marL="342900" indent="-3429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systems, railway servers, and billing machines.</a:t>
            </a:r>
          </a:p>
        </p:txBody>
      </p:sp>
    </p:spTree>
    <p:extLst>
      <p:ext uri="{BB962C8B-B14F-4D97-AF65-F5344CB8AC3E}">
        <p14:creationId xmlns:p14="http://schemas.microsoft.com/office/powerpoint/2010/main" val="225759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1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43303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Multitasking/Time-Sharing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Multitasking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is a type of multiprogramming system where each process runs in a round-robin manner.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gets a fixed time slice called a quantum.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quantum ends, the OS switches to the next task, allowing multiple tasks whether from one user or many to run smoothly on a single system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809" y="3472070"/>
            <a:ext cx="7739269" cy="322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1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0" y="41700"/>
            <a:ext cx="11762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Equal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time distribution among tasks,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educed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duplication through shared applications, and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ow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idle time via efficient scheduling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reliability (system failures impact all users),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ecurity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privacy concerns from multi-user access, 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data-sharing communication conflicts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IBM VM/CMS, TSO (Time Sharing Option), Windows Terminal Services.</a:t>
            </a:r>
          </a:p>
        </p:txBody>
      </p:sp>
    </p:spTree>
    <p:extLst>
      <p:ext uri="{BB962C8B-B14F-4D97-AF65-F5344CB8AC3E}">
        <p14:creationId xmlns:p14="http://schemas.microsoft.com/office/powerpoint/2010/main" val="345112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266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Multiprocessor operating systems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Multi-Processing OS is a type of Operating System in which more than one CPU is used for the execution of processes.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r>
              <a:rPr lang="en-US" sz="2800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Multiprocessor </a:t>
            </a:r>
            <a:r>
              <a:rPr lang="en-US" sz="28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 are also known as </a:t>
            </a:r>
            <a:r>
              <a:rPr lang="en-US" sz="2800" spc="-4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OS or tightly coupled OS. </a:t>
            </a: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betters the throughput of the System.</a:t>
            </a:r>
            <a:endParaRPr lang="en-US" sz="2800" spc="-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685782">
              <a:buFont typeface="Wingdings" panose="05000000000000000000" pitchFamily="2" charset="2"/>
              <a:buChar char="§"/>
              <a:defRPr/>
            </a:pPr>
            <a:endParaRPr lang="en-US" sz="2800" spc="-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685782"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471" y="3420096"/>
            <a:ext cx="860314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3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0" y="41700"/>
            <a:ext cx="11762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8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Faster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via simultaneous multi-CPU execution,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igh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(fault tolerance if a processor fails), and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computation-intensive tasks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system costs,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omplex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design required for communication and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ask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distribution, and potential resource waste from poor task allocation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UNIX, Linux (Ubuntu, Red Hat,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Debian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611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266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Distributed</a:t>
            </a:r>
            <a:r>
              <a:rPr lang="en-US" sz="40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28411"/>
            <a:ext cx="117578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operating systems connects multiple independent computers through a shared communication network. </a:t>
            </a:r>
            <a:endParaRPr lang="en-US" alt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has its own CPU and memory but works together as a single unit. </a:t>
            </a:r>
            <a:endParaRPr lang="en-US" alt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benefit is remote access, allowing users to use files and software stored on other connected systems.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136" y="4190007"/>
            <a:ext cx="8086882" cy="262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1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266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  <a:endParaRPr lang="en-US" alt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with failure isolation (one machine failing doesn't affect others), </a:t>
            </a:r>
            <a:endParaRPr lang="en-US" alt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by adding new nodes, and </a:t>
            </a:r>
            <a:endParaRPr lang="en-US" alt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aster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handling across multiple machines</a:t>
            </a: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Heavy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dependency (communication stops if the network fails), </a:t>
            </a:r>
            <a:endParaRPr lang="en-US" alt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ack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standard models or languages, and </a:t>
            </a:r>
            <a:endParaRPr lang="en-US" alt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igh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with software complexity.</a:t>
            </a:r>
          </a:p>
        </p:txBody>
      </p:sp>
    </p:spTree>
    <p:extLst>
      <p:ext uri="{BB962C8B-B14F-4D97-AF65-F5344CB8AC3E}">
        <p14:creationId xmlns:p14="http://schemas.microsoft.com/office/powerpoint/2010/main" val="165594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266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39687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/ Challenges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delays across nodes cause inconsistent data views and make tracking the chronological order of events difficult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functions (scheduling, resource allocation, and deadlock detection) must be managed across multiple nodes to achieve speedup and fault tolerance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Messages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traveling over public networks can be intercepted, tampered with, or faked by intruders to bypass authentication and masquerade as users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LOCUS, MICROS, Amoeba.</a:t>
            </a:r>
          </a:p>
        </p:txBody>
      </p:sp>
    </p:spTree>
    <p:extLst>
      <p:ext uri="{BB962C8B-B14F-4D97-AF65-F5344CB8AC3E}">
        <p14:creationId xmlns:p14="http://schemas.microsoft.com/office/powerpoint/2010/main" val="241689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266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0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Network Operating</a:t>
            </a:r>
            <a:r>
              <a:rPr lang="en-US" sz="4000" b="1" spc="-5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1040737"/>
            <a:ext cx="117578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 Operating System (NOS) runs on a server and manages data, users, security, applications, and other network functions.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shared access to files, printers, and resources within a small private network.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see the configuration and connections of other users, which is why these systems are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considered loosely coupled systems.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824" y="4031974"/>
            <a:ext cx="7109794" cy="254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7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266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1040737"/>
            <a:ext cx="1175783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reliable resource management via stable servers, easy hardware and technology upgrades, and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across locations and devices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and maintenance costs for servers, heavy operational dependency on the central server, and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continuous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regular maintenance and technical updates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Microsoft Windows Server 2003, UNIX, Linux, Mac OS X.</a:t>
            </a:r>
          </a:p>
        </p:txBody>
      </p:sp>
    </p:spTree>
    <p:extLst>
      <p:ext uri="{BB962C8B-B14F-4D97-AF65-F5344CB8AC3E}">
        <p14:creationId xmlns:p14="http://schemas.microsoft.com/office/powerpoint/2010/main" val="374946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266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Real-Time Operating System 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684213">
              <a:buFont typeface="Wingdings" panose="05000000000000000000" pitchFamily="2" charset="2"/>
              <a:buChar char="§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interval required to process and respond to inputs is very small. 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684213">
              <a:buFont typeface="Wingdings" panose="05000000000000000000" pitchFamily="2" charset="2"/>
              <a:buChar char="§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are used when there are time requirements that are very strict like missile systems, air traffic control systems, robots, etc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684213"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Real-Time Operating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4213"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Real-Time Operating System: 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defTabSz="684213">
              <a:buFont typeface="Wingdings" panose="05000000000000000000" pitchFamily="2" charset="2"/>
              <a:buChar char="§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strict timing is essential and any delay is unacceptable, such as airbags or automatic parachutes. 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4213">
              <a:buFont typeface="Wingdings" panose="05000000000000000000" pitchFamily="2" charset="2"/>
              <a:buChar char="§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Operating System: 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defTabSz="684213">
              <a:buFont typeface="Wingdings" panose="05000000000000000000" pitchFamily="2" charset="2"/>
              <a:buChar char="§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timing is important but minor delays are acceptable. 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defTabSz="684213">
              <a:buFont typeface="Wingdings" panose="05000000000000000000" pitchFamily="2" charset="2"/>
              <a:buChar char="§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commonly used in multimedia applications, gaming, video streaming, and other interactive tasks.</a:t>
            </a:r>
          </a:p>
        </p:txBody>
      </p:sp>
    </p:spTree>
    <p:extLst>
      <p:ext uri="{BB962C8B-B14F-4D97-AF65-F5344CB8AC3E}">
        <p14:creationId xmlns:p14="http://schemas.microsoft.com/office/powerpoint/2010/main" val="231118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266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684213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4213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Maximum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utilization,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4213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rror-free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operation, and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4213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ell-managed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defTabSz="684213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4213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tasks,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4213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ighly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algorithms, and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defTabSz="684213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oor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suitability for frequent task switching or thread priority adjustments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defTabSz="684213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Scientific experiments, medical imaging systems, and robots.</a:t>
            </a:r>
          </a:p>
        </p:txBody>
      </p:sp>
    </p:spTree>
    <p:extLst>
      <p:ext uri="{BB962C8B-B14F-4D97-AF65-F5344CB8AC3E}">
        <p14:creationId xmlns:p14="http://schemas.microsoft.com/office/powerpoint/2010/main" val="317216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266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alt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operating systems are designed specifically for mobile devices such as smartphones and tablets.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such operating systems are Android and iOS.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 manage the hardware and software resources of the device, providing a platform for running applications and ensuring a seamless user experience.</a:t>
            </a:r>
            <a:endParaRPr lang="en-I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297" y="3952461"/>
            <a:ext cx="7401338" cy="290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7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BDA4D-F5C4-49A4-8DC2-F007C6E86B3D}"/>
              </a:ext>
            </a:extLst>
          </p:cNvPr>
          <p:cNvSpPr txBox="1"/>
          <p:nvPr/>
        </p:nvSpPr>
        <p:spPr>
          <a:xfrm>
            <a:off x="95533" y="12666"/>
            <a:ext cx="1176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Cont’d…</a:t>
            </a:r>
            <a:endParaRPr lang="en-US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  <a:endParaRPr lang="en-IN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intuitive interfaces accessible to everyone, </a:t>
            </a:r>
            <a:endParaRPr lang="en-IN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xtensive 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ecosystems for deep customization, and </a:t>
            </a:r>
            <a:endParaRPr lang="en-IN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obust 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options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IN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Battery 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constraints under heavy usage, </a:t>
            </a:r>
            <a:endParaRPr lang="en-IN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ecurity 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like malware and phishing, and </a:t>
            </a:r>
            <a:endParaRPr lang="en-IN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ragmentation 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(especially in Android) that complicate app compatibility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Android, iOS, Blackberry.</a:t>
            </a:r>
          </a:p>
        </p:txBody>
      </p:sp>
    </p:spTree>
    <p:extLst>
      <p:ext uri="{BB962C8B-B14F-4D97-AF65-F5344CB8AC3E}">
        <p14:creationId xmlns:p14="http://schemas.microsoft.com/office/powerpoint/2010/main" val="201880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primarily for personal computers, workstations, and laptops, focusing on single-user or multi-user multitasking with rich graphical user interfaces (GUIs), file management, and broad peripheral support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widely used desktop OS globally, known for massive software and gaming compatibility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Apple's proprietary OS designed exclusively for Mac computers, praised for its sleek UI and hardware integration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(Ubuntu, Fedora, Mint):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open-source operating system favored by developers, power users, and privacy advocates.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14514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Desktop Class Operating </a:t>
            </a:r>
            <a:r>
              <a:rPr lang="en-US" altLang="en-US" sz="4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27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318052" y="968167"/>
            <a:ext cx="1175783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MS-DOS was the Microsoft-marketed version of the first operating system (OS) to be widely installed on personal computers (PCs). 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User Single Tasking OS</a:t>
            </a: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had no built-in support for networking, and users had to manually install drivers any time they added a new hardware component to their PC.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supports only 16-bit programs.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line user interface.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why is DOS still in use? </a:t>
            </a:r>
            <a:endParaRPr lang="en-IN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 are its size and simplicity. </a:t>
            </a:r>
            <a:endParaRPr lang="en-IN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require much memory or storage space for the system, and it docs not require a powerful computer</a:t>
            </a:r>
            <a:r>
              <a:rPr lang="en-I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14514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MS-DOS</a:t>
            </a:r>
            <a:r>
              <a:rPr lang="nn-NO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(Microsoft Disk Operating System</a:t>
            </a:r>
            <a:r>
              <a:rPr lang="nn-NO" sz="4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51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74509" y="1142339"/>
            <a:ext cx="117578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graphical Microsoft operating system designed for Intel-platform desktop and notebook computers.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known, greatest selection of applications available.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editions include Windows 7, 8, 8.1,10 and 11.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Windows </a:t>
            </a:r>
            <a:endParaRPr lang="en-US" sz="4800" dirty="0">
              <a:solidFill>
                <a:schemeClr val="tx1"/>
              </a:solidFill>
            </a:endParaRPr>
          </a:p>
        </p:txBody>
      </p:sp>
      <p:pic>
        <p:nvPicPr>
          <p:cNvPr id="6" name="Picture 2" descr="http://res1.windows.microsoft.com/resbox/en/6.2/2013-win81ga/ca9e37fd-cdd4-4a52-b518-e27886480614_5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071" y="3313043"/>
            <a:ext cx="9223512" cy="3378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0176" y="262959"/>
            <a:ext cx="2644775" cy="72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869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74509" y="1069768"/>
            <a:ext cx="117578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User-friendly, runs on Mac hardware. 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available.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editions include: Sierra, High Sierra, Mojave, Catalina &amp;  Big Sur—Version XI(Released in Nov 2020)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41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 OS </a:t>
            </a:r>
            <a:endParaRPr lang="en-US" sz="4800" dirty="0">
              <a:solidFill>
                <a:schemeClr val="tx1"/>
              </a:solidFill>
            </a:endParaRPr>
          </a:p>
        </p:txBody>
      </p:sp>
      <p:pic>
        <p:nvPicPr>
          <p:cNvPr id="9" name="Picture 4" descr="http://o.aolcdn.com/hss/storage/midas/200b8c78287b425aeac4e3788d6387cd/200446069/1_desktop_menu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3159539"/>
            <a:ext cx="7886700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684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59995" y="1316510"/>
            <a:ext cx="117578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684213">
              <a:buFont typeface="Wingdings" panose="05000000000000000000" pitchFamily="2" charset="2"/>
              <a:buChar char="§"/>
            </a:pPr>
            <a:r>
              <a:rPr lang="en-GB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Linux: </a:t>
            </a: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open-source, cross-platform operating system that runs on desktops, notebooks, tablets, and smartphones.</a:t>
            </a:r>
          </a:p>
          <a:p>
            <a:pPr marL="800100" lvl="1" indent="-457200" defTabSz="684213">
              <a:buFont typeface="Wingdings" panose="05000000000000000000" pitchFamily="2" charset="2"/>
              <a:buChar char="§"/>
            </a:pP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</a:t>
            </a:r>
            <a:r>
              <a:rPr lang="en-GB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combination </a:t>
            </a:r>
            <a:r>
              <a:rPr lang="en-GB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Linus</a:t>
            </a: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first name of the first developer) and </a:t>
            </a:r>
            <a:r>
              <a:rPr lang="en-GB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(another operating system)</a:t>
            </a: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defTabSz="684213">
              <a:buFont typeface="Wingdings" panose="05000000000000000000" pitchFamily="2" charset="2"/>
              <a:buChar char="§"/>
            </a:pP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are free to modify the code, improve it, and redistribute it, </a:t>
            </a:r>
          </a:p>
          <a:p>
            <a:pPr marL="457200" indent="-457200" defTabSz="684213">
              <a:buFont typeface="Wingdings" panose="05000000000000000000" pitchFamily="2" charset="2"/>
              <a:buChar char="§"/>
            </a:pP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are not allowed to charge money for the Linux kernel itself (the main part of the operating system), but they can charge money for </a:t>
            </a:r>
            <a:r>
              <a:rPr lang="en-GB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distributions </a:t>
            </a: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distros </a:t>
            </a:r>
            <a:r>
              <a:rPr lang="en-GB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short).</a:t>
            </a:r>
          </a:p>
          <a:p>
            <a:pPr marL="457200" indent="-457200" defTabSz="684213">
              <a:buFont typeface="Wingdings" panose="05000000000000000000" pitchFamily="2" charset="2"/>
              <a:buChar char="§"/>
            </a:pPr>
            <a:endParaRPr lang="en-GB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41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endParaRPr lang="en-US" sz="4800" dirty="0">
              <a:solidFill>
                <a:schemeClr val="tx1"/>
              </a:solidFill>
            </a:endParaRPr>
          </a:p>
        </p:txBody>
      </p:sp>
      <p:pic>
        <p:nvPicPr>
          <p:cNvPr id="6" name="Picture 6" descr="https://lh5.googleusercontent.com/-UsUGPfg2Rx0/AAAAAAAAAAI/AAAAAAAAAAA/rv6_MDqB2E4/phot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489" y="46714"/>
            <a:ext cx="1366837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861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59995" y="1171366"/>
            <a:ext cx="117578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Familiar GUI interface for those experienced with Windows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mature server capabilities, time-tested, large user community, stable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Free, customizable, many free services and utilities available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40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Operating </a:t>
            </a:r>
            <a:r>
              <a:rPr lang="en-US" altLang="en-US" sz="4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18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0" y="1071028"/>
            <a:ext cx="11757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8057" lvl="1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 specifically optimized for mobile hardware, prioritizing battery efficiency, touch interfaces, and wireless mobility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28057" lvl="1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85257" lvl="2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Multi-touch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gesture-based user interfaces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85257" lvl="2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Aggressive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management for extended battery life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85257" lvl="2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Strict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sandboxing and permission controls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85257" lvl="2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Native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mobile sensors (GPS, cameras, accelerometers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828057" lvl="1" indent="-457200" defTabSz="685782">
              <a:buFont typeface="Wingdings" panose="05000000000000000000" pitchFamily="2" charset="2"/>
              <a:buChar char="§"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Android and iOS.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5923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Tablet and Phone Operating Systems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74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59995" y="1113308"/>
            <a:ext cx="117578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operating system created and developed exclusively by Apple for its phones (iPhone) and tablets (iPad).   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 algn="just">
              <a:buFont typeface="Wingdings" panose="05000000000000000000" pitchFamily="2" charset="2"/>
              <a:buChar char="§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a Unix-like foundation (Darwin), emphasizing hardware-software integration, rigorous application sandboxing, and strict user privacy controls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28700" lvl="1" indent="-571500" algn="just">
              <a:buFont typeface="Wingdings" panose="05000000000000000000" pitchFamily="2" charset="2"/>
              <a:buChar char="§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continues to release major annual updates, with recent milestones including iOS 17 (2023), iOS 18 (2024), iOS 26 (2025), and iOS 27 (2026).</a:t>
            </a:r>
            <a:endParaRPr lang="en-GB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iOS on the iPhone and iPad</a:t>
            </a:r>
            <a:endParaRPr lang="en-US" sz="4800" dirty="0">
              <a:solidFill>
                <a:schemeClr val="tx1"/>
              </a:solidFill>
            </a:endParaRPr>
          </a:p>
        </p:txBody>
      </p:sp>
      <p:pic>
        <p:nvPicPr>
          <p:cNvPr id="4" name="Picture 4" descr="http://7468e87b291b2e0e11cd-3dd5e0ec5c72df76af7dd0543099442f.r79.cf1.rackcdn.com/main91433821677028.jpe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391" y="4721926"/>
            <a:ext cx="3970615" cy="2136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5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59995" y="1113308"/>
            <a:ext cx="1175783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684213">
              <a:buFont typeface="Wingdings" panose="05000000000000000000" pitchFamily="2" charset="2"/>
              <a:buChar char="§"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Android, a popular OS for smartphones and tablets, is based on Linux Kernel.</a:t>
            </a:r>
          </a:p>
          <a:p>
            <a:pPr marL="628650" lvl="1" indent="-285750" defTabSz="684213">
              <a:buFont typeface="Wingdings" panose="05000000000000000000" pitchFamily="2" charset="2"/>
              <a:buChar char="§"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Google</a:t>
            </a:r>
          </a:p>
          <a:p>
            <a:pPr marL="342900" indent="-342900" defTabSz="684213">
              <a:buFont typeface="Wingdings" panose="05000000000000000000" pitchFamily="2" charset="2"/>
              <a:buChar char="§"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versions include:</a:t>
            </a:r>
          </a:p>
          <a:p>
            <a:pPr marL="628650" lvl="1" indent="-285750" defTabSz="684213">
              <a:buFont typeface="Wingdings" panose="05000000000000000000" pitchFamily="2" charset="2"/>
              <a:buChar char="§"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8 Oreo</a:t>
            </a:r>
          </a:p>
          <a:p>
            <a:pPr marL="628650" lvl="1" indent="-285750" defTabSz="684213">
              <a:buFont typeface="Wingdings" panose="05000000000000000000" pitchFamily="2" charset="2"/>
              <a:buChar char="§"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9 Pie </a:t>
            </a:r>
          </a:p>
          <a:p>
            <a:pPr marL="628650" lvl="1" indent="-285750" defTabSz="684213">
              <a:buFont typeface="Wingdings" panose="05000000000000000000" pitchFamily="2" charset="2"/>
              <a:buChar char="§"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10</a:t>
            </a:r>
          </a:p>
          <a:p>
            <a:pPr marL="628650" lvl="1" indent="-285750" defTabSz="684213">
              <a:buFont typeface="Wingdings" panose="05000000000000000000" pitchFamily="2" charset="2"/>
              <a:buChar char="§"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11 (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released on Sep, 2020)</a:t>
            </a:r>
            <a:endParaRPr lang="en-GB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Android</a:t>
            </a:r>
            <a:endParaRPr lang="en-US" sz="4800" dirty="0">
              <a:solidFill>
                <a:schemeClr val="tx1"/>
              </a:solidFill>
            </a:endParaRPr>
          </a:p>
        </p:txBody>
      </p:sp>
      <p:pic>
        <p:nvPicPr>
          <p:cNvPr id="6" name="Picture 2" descr="http://1.bp.blogspot.com/-U9MP8MVJfRc/VECiwuK8QmI/AAAAAAAAA1w/27T9dWOLdhg/s400/l_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921" y="1664381"/>
            <a:ext cx="1157287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http://img.clubic.com/01F4000008141504-photo-android-marshmall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7157" y="1850119"/>
            <a:ext cx="14605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 descr="http://b-i.forbesimg.com/amitchowdhry/files/2013/11/android_kitka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721" y="1664381"/>
            <a:ext cx="1241425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http://cdn.cultofandroid.com/wp-content/uploads/2013/10/Screen-Shot-2013-10-31-at-18.18.4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" r="56599"/>
          <a:stretch>
            <a:fillRect/>
          </a:stretch>
        </p:blipFill>
        <p:spPr bwMode="auto">
          <a:xfrm>
            <a:off x="8313057" y="3429681"/>
            <a:ext cx="2108200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360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59995" y="1113308"/>
            <a:ext cx="117578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designing the OS, we must consider the following issues: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 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</a:p>
          <a:p>
            <a:pPr marL="285750" indent="-285750" defTabSz="684213">
              <a:buFont typeface="Wingdings" panose="05000000000000000000" pitchFamily="2" charset="2"/>
              <a:buChar char="§"/>
            </a:pPr>
            <a:endParaRPr lang="en-GB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Design Issues of OS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96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59995" y="1113308"/>
            <a:ext cx="1175783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is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optimization of resource utilization 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overall system performance and minimize overhead.  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Objectives: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hardware components operate at high utilization rates without leaving valuable CPU cycles or memory space 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idle.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Minimizing the time and energy spent by the operating system on internal administrative tasks rather than executing user programs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of Focus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I/O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77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59995" y="1113308"/>
            <a:ext cx="11757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ability of a computer system to cope with errors during execution and cope with erroneous input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failures in distributed environments include the failure of a link, the failure of a site, and the loss of a message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 system is robust, it must detect any of these failures, reconfigure the system so that computation can continue, and recover when a site or link is repaired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systems that encompass every point of possible failure is difficult because of the vast quantity of possible inputs and input combinations.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12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06987" y="1166317"/>
            <a:ext cx="1175783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 is the ability of an operating system to be transferred and executed across different hardware platforms, architectures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types with minimal or no modification to its core codebase.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are written predominantly in portable high-level languages (like C) rather than machine-specific assembly code.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challenge is balancing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independence with hardware-specific performance optimization.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92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59995" y="1113308"/>
            <a:ext cx="11757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the protection of system resources, user data, memory spaces, and communication channels from unauthorized 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sensitive data and private user files can only be accessed by authorized entities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modification, corruption, or deletion of system files, code, and user 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system resources and services remain accessible to legitimate users without being disrupted by denial-of-service (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attacks or system failures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67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59995" y="1113308"/>
            <a:ext cx="117578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is the capacity for two systems to work together seamlessly without having to be altered to do so. 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applications are designed to use the same standardized data formats for smooth data exchange.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typically arise when users employ the same category of software for a task (such as different word processors) that cannot communicate or share files with each other.  </a:t>
            </a:r>
            <a:endParaRPr lang="en-US" alt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generally stem from differences in software versions or from applications being developed by different companies.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05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CA0F35-84EB-DC37-9846-0E79D55B01E4}"/>
              </a:ext>
            </a:extLst>
          </p:cNvPr>
          <p:cNvSpPr txBox="1"/>
          <p:nvPr/>
        </p:nvSpPr>
        <p:spPr>
          <a:xfrm>
            <a:off x="259995" y="1113308"/>
            <a:ext cx="113489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ability of an operating system to easily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adapt:- 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change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requirements, </a:t>
            </a: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ew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technologies, or </a:t>
            </a: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modifications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requiring a complete system redesign or rewrite.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90D04-C997-4637-868E-DF1F09B394A5}"/>
              </a:ext>
            </a:extLst>
          </p:cNvPr>
          <p:cNvSpPr/>
          <p:nvPr/>
        </p:nvSpPr>
        <p:spPr>
          <a:xfrm>
            <a:off x="0" y="20438"/>
            <a:ext cx="12192000" cy="982639"/>
          </a:xfrm>
          <a:prstGeom prst="rect">
            <a:avLst/>
          </a:prstGeom>
          <a:gradFill>
            <a:gsLst>
              <a:gs pos="40000">
                <a:schemeClr val="bg2"/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28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AutoShape 4" descr="0914 Thank You Note With Blue Pen On White Background Stock Photo | PowerPoint  Templates Download | PPT Background Template | Graphics Presentation"/>
          <p:cNvSpPr>
            <a:spLocks noChangeAspect="1" noChangeArrowheads="1"/>
          </p:cNvSpPr>
          <p:nvPr/>
        </p:nvSpPr>
        <p:spPr bwMode="auto">
          <a:xfrm>
            <a:off x="1652588" y="169864"/>
            <a:ext cx="17907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endParaRPr lang="en-IN" altLang="en-US" sz="1959">
              <a:latin typeface="Times New Roman" panose="02020603050405020304" pitchFamily="18" charset="0"/>
            </a:endParaRPr>
          </a:p>
        </p:txBody>
      </p:sp>
      <p:pic>
        <p:nvPicPr>
          <p:cNvPr id="69635" name="Picture 6" descr="0914 Thank You Note With Blue Pen On White Background Stock Photo | PowerPoint  Templates Download | PPT Background Template | Graphics Present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4" y="2870201"/>
            <a:ext cx="7585075" cy="214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82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41">
      <a:dk1>
        <a:sysClr val="windowText" lastClr="000000"/>
      </a:dk1>
      <a:lt1>
        <a:sysClr val="window" lastClr="FFFFFF"/>
      </a:lt1>
      <a:dk2>
        <a:srgbClr val="44546A"/>
      </a:dk2>
      <a:lt2>
        <a:srgbClr val="01AEF2"/>
      </a:lt2>
      <a:accent1>
        <a:srgbClr val="20B8EF"/>
      </a:accent1>
      <a:accent2>
        <a:srgbClr val="33C1FF"/>
      </a:accent2>
      <a:accent3>
        <a:srgbClr val="65E9FE"/>
      </a:accent3>
      <a:accent4>
        <a:srgbClr val="29C6F9"/>
      </a:accent4>
      <a:accent5>
        <a:srgbClr val="54D2FB"/>
      </a:accent5>
      <a:accent6>
        <a:srgbClr val="00B0F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4182</Words>
  <Application>Microsoft Office PowerPoint</Application>
  <PresentationFormat>Widescreen</PresentationFormat>
  <Paragraphs>447</Paragraphs>
  <Slides>69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0" baseType="lpstr">
      <vt:lpstr>Arial</vt:lpstr>
      <vt:lpstr>Calibri</vt:lpstr>
      <vt:lpstr>Calibri Light</vt:lpstr>
      <vt:lpstr>Georgia</vt:lpstr>
      <vt:lpstr>Georgia Pro Cond</vt:lpstr>
      <vt:lpstr>Georgia Pro Light</vt:lpstr>
      <vt:lpstr>Nyala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Kavitha</dc:creator>
  <cp:lastModifiedBy>Dagne</cp:lastModifiedBy>
  <cp:revision>316</cp:revision>
  <dcterms:created xsi:type="dcterms:W3CDTF">2019-12-19T11:18:30Z</dcterms:created>
  <dcterms:modified xsi:type="dcterms:W3CDTF">2026-10-12T10:21:45Z</dcterms:modified>
</cp:coreProperties>
</file>